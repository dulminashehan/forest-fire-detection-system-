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4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26C39-3767-B929-0DD1-E205E579C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6D78B3-7876-A0A9-1E7D-6EE7F6107E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7C1BA-FBAE-4560-6172-025E159DE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C36B5-AE65-4E10-BA9E-9EA6A6FF6CF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07C00-45BD-42E3-8AAA-12B7BF0A9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C2F2F-D04E-C237-F68F-2E75DDA79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A25D-8580-4799-9D72-5AE810197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645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5D4D6-A42B-9601-BC88-6F0FCA375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880DE-81D7-0786-81E6-EB2CD31FF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EC2C9-4717-E099-A4B3-A6F4F160C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C36B5-AE65-4E10-BA9E-9EA6A6FF6CF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5C57B-F3C1-6709-391D-D019A620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4895A-3A5E-E5D4-FEF9-F2219B426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A25D-8580-4799-9D72-5AE810197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601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51EA5-AA27-EF5F-02CD-F9096B96B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D5077-85F6-A032-6AEF-58AE5FE48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885F1-BE8E-3AE9-32DA-4010D865A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C36B5-AE65-4E10-BA9E-9EA6A6FF6CF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AE269-CA22-D8E7-20EC-4D224B869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9F0F6-A333-AE0B-3D3A-8DA9262CD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A25D-8580-4799-9D72-5AE810197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812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EE5D3-E775-3138-DAD3-42EF15AD5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37E48-6CAD-689A-E019-44BA5FFA88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0C98B2-BD44-9AC6-9864-7E6BAA5B9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4EF6F-85BB-49ED-DADB-A06527941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C36B5-AE65-4E10-BA9E-9EA6A6FF6CF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2AA934-AEE3-DC33-A7F1-593504205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1E6AA-92C1-2247-F408-31353A12C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A25D-8580-4799-9D72-5AE810197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785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B83A9-6FF6-F9C8-F393-4BA9C6597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57B8AD-8575-9B33-9947-AAFAD2B18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F7E429-FBEF-9503-7754-F29CF44306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26674F-9F0B-FBBF-B81A-AB08F55CE7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F04457-6333-5A80-2C2B-EF16CE89EA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CD7CA5-974A-AA2F-8FC1-B4AB55432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C36B5-AE65-4E10-BA9E-9EA6A6FF6CF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F8C617-E489-30B0-BF99-D0EB07723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B58332-F5D9-10D6-31AD-3BADDBA83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A25D-8580-4799-9D72-5AE810197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028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8F06A-7ED1-BBC5-B3EE-84DEAB19D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875EFF-E792-F97C-D822-5FD5740D0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C36B5-AE65-4E10-BA9E-9EA6A6FF6CF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5A35D8-188A-3FA2-1EC4-EDB56537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B02A99-CEAA-1E9F-6EEF-DCCAD5A8F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A25D-8580-4799-9D72-5AE810197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14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CA7041-4BC7-557F-5253-C635D96D9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C36B5-AE65-4E10-BA9E-9EA6A6FF6CF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AA7ABC-7162-C714-A577-61A98066D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3972B-58E2-1372-3012-974CC69C5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A25D-8580-4799-9D72-5AE810197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3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F6DFF-D77F-8AAC-1029-2356830EC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F70A4-8801-550E-D751-8B38F2305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E7A1B-B6DF-B0CA-82B6-13A7C6EFCF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2D5BB-D38E-8632-2383-7B0D136BC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C36B5-AE65-4E10-BA9E-9EA6A6FF6CF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B0802B-B8D3-2FD0-968A-1A94FE027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5F46B-6AF7-89B6-CB5D-7B4D4A658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A25D-8580-4799-9D72-5AE810197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38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90EA0-CE73-0559-BCB3-DC5EA0A8D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E2FDFC-C4DA-8638-BDA4-5539F3EBC0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8E60A1-1FEF-374F-6432-CB69875C3D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1BC71-F8C9-379C-85FC-AF76BA382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C36B5-AE65-4E10-BA9E-9EA6A6FF6CF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467F2-17BE-78B6-8DCE-8F4F51015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50EA1-E03E-69CD-1BA8-9394724CC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A25D-8580-4799-9D72-5AE810197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50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5BF0F-C04E-06E9-A53E-70DDA2AFB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12DC95-AA27-2E8D-38FC-253FA5FDF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B4515-17BE-C977-21B4-DCEFFF03E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C36B5-AE65-4E10-BA9E-9EA6A6FF6CF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61104-8DA3-13A1-A417-A2EAB0933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8FDBD-AC0F-52C2-0D67-9113310D8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A25D-8580-4799-9D72-5AE810197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14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A40410-8DC2-9D31-30D8-3B894DBFA3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353060-3A3F-DFB3-B087-CD04AB0ADC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C0688-3E20-E580-4955-813D352E3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C36B5-AE65-4E10-BA9E-9EA6A6FF6CF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D259D-18A0-D2FF-7F59-86A36A875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D861A-3C32-B177-902C-AB4452CB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A25D-8580-4799-9D72-5AE810197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643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101C23-F391-E313-0E2E-60C415154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3517E-C5F8-C7E4-A6A2-9C31305C6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055DD-17B6-AEC9-4C95-1949565A1C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BC36B5-AE65-4E10-BA9E-9EA6A6FF6CFE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C1578-ABB9-F686-9C16-1ACD2BAC69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5D0FB-027D-A8BD-413E-2DEAD0C743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0A25D-8580-4799-9D72-5AE810197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74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281CEC8-262F-2252-1B10-5914F7A36C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6240" y="2593181"/>
            <a:ext cx="9144000" cy="1325563"/>
          </a:xfrm>
        </p:spPr>
        <p:txBody>
          <a:bodyPr>
            <a:no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Forest Fire Detection System</a:t>
            </a:r>
            <a:br>
              <a:rPr lang="en-US" sz="5400" dirty="0">
                <a:latin typeface="+mn-lt"/>
              </a:rPr>
            </a:br>
            <a:endParaRPr lang="en-US" sz="5400" dirty="0">
              <a:latin typeface="+mn-lt"/>
              <a:cs typeface="Arial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0DBC02D-1BA4-39C6-1BA3-872FA87FC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5913" y="3602037"/>
            <a:ext cx="10112829" cy="2873375"/>
          </a:xfrm>
        </p:spPr>
        <p:txBody>
          <a:bodyPr>
            <a:normAutofit fontScale="92500" lnSpcReduction="10000"/>
          </a:bodyPr>
          <a:lstStyle/>
          <a:p>
            <a:endParaRPr lang="en-US" sz="3500" b="1" dirty="0">
              <a:latin typeface="Arial Narrow" pitchFamily="34" charset="0"/>
            </a:endParaRPr>
          </a:p>
          <a:p>
            <a:r>
              <a:rPr lang="en-US" sz="3500" b="1" dirty="0">
                <a:latin typeface="Arial Narrow" pitchFamily="34" charset="0"/>
              </a:rPr>
              <a:t>Final Project - Viva</a:t>
            </a:r>
          </a:p>
          <a:p>
            <a:r>
              <a:rPr lang="en-US" sz="3500" dirty="0"/>
              <a:t>Higher Diploma in Software Engineering</a:t>
            </a:r>
            <a:endParaRPr lang="en-US" b="1" dirty="0">
              <a:latin typeface="Arial Narrow" pitchFamily="34" charset="0"/>
            </a:endParaRPr>
          </a:p>
          <a:p>
            <a:endParaRPr lang="en-US" b="1" dirty="0">
              <a:latin typeface="Arial Narrow" pitchFamily="34" charset="0"/>
            </a:endParaRPr>
          </a:p>
          <a:p>
            <a:r>
              <a:rPr lang="en-US" sz="2600" b="1" dirty="0">
                <a:latin typeface="Arial Narrow" pitchFamily="34" charset="0"/>
              </a:rPr>
              <a:t>School of Computing and Engineering</a:t>
            </a:r>
            <a:endParaRPr lang="en-US" sz="2600" dirty="0">
              <a:latin typeface="Arial Narrow" pitchFamily="34" charset="0"/>
            </a:endParaRPr>
          </a:p>
          <a:p>
            <a:r>
              <a:rPr lang="en-US" sz="2800" b="1" dirty="0">
                <a:latin typeface="Arial Narrow" pitchFamily="34" charset="0"/>
              </a:rPr>
              <a:t>National Institute of Business Management</a:t>
            </a:r>
            <a:endParaRPr lang="en-US" sz="2800" dirty="0">
              <a:latin typeface="Arial Narrow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FC6866-CC29-2BBD-E295-6D3B972BCE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0469" y="382588"/>
            <a:ext cx="2543175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350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4189F-044E-E22E-09BF-2774D4DE043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91800" cy="96583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Arial" pitchFamily="34" charset="0"/>
                <a:cs typeface="Arial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D6EB4-E466-401D-6654-991C0D7A1D7D}"/>
              </a:ext>
            </a:extLst>
          </p:cNvPr>
          <p:cNvSpPr txBox="1">
            <a:spLocks/>
          </p:cNvSpPr>
          <p:nvPr/>
        </p:nvSpPr>
        <p:spPr>
          <a:xfrm>
            <a:off x="716280" y="1422777"/>
            <a:ext cx="4638040" cy="27604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Domain Overview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Forest fires cause devastating damage to ecosystems, wildlife, and economies worldwide.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Global warming is increasing the frequency and severity of wildfires significantly.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dirty="0">
              <a:latin typeface="Arial Narrow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3A9B3D-2718-F1FA-13E8-A6B7D7E91AEB}"/>
              </a:ext>
            </a:extLst>
          </p:cNvPr>
          <p:cNvSpPr txBox="1"/>
          <p:nvPr/>
        </p:nvSpPr>
        <p:spPr>
          <a:xfrm>
            <a:off x="5756102" y="1422777"/>
            <a:ext cx="6212378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Problems Identified</a:t>
            </a:r>
          </a:p>
          <a:p>
            <a:pPr marL="342900" indent="-342900" algn="just"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Manual patrols &amp; satellite systems are too slow for early detection.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ground-level continuous monitoring in dense forest areas.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Existing systems are expensive with no predictive capabilities.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Remote areas lack sustainable long-term power solutions.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8584D4-B723-FF07-30DF-E4EECD77BDC1}"/>
              </a:ext>
            </a:extLst>
          </p:cNvPr>
          <p:cNvSpPr txBox="1"/>
          <p:nvPr/>
        </p:nvSpPr>
        <p:spPr>
          <a:xfrm>
            <a:off x="894080" y="4492327"/>
            <a:ext cx="1107440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Our Solution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self-driven, solar-powered, IoT-based robotic system designed to continuously monitor forest environments for fire risk. It combines autonomous robotics, multi-sensor fusion, machine learning, GPS tracking, and cloud-based real-time alerting into one integrated platform.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b="1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947C7CD-306C-77C2-A251-897DC3437FEB}"/>
              </a:ext>
            </a:extLst>
          </p:cNvPr>
          <p:cNvCxnSpPr/>
          <p:nvPr/>
        </p:nvCxnSpPr>
        <p:spPr>
          <a:xfrm>
            <a:off x="5496560" y="1422777"/>
            <a:ext cx="0" cy="297650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14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D2059-9A9C-A5D4-C73C-D7DD22F28BD1}"/>
              </a:ext>
            </a:extLst>
          </p:cNvPr>
          <p:cNvSpPr txBox="1">
            <a:spLocks/>
          </p:cNvSpPr>
          <p:nvPr/>
        </p:nvSpPr>
        <p:spPr>
          <a:xfrm>
            <a:off x="961042" y="493417"/>
            <a:ext cx="8153400" cy="62987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Research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35A9C-40E4-66E1-FA54-7584BBAC4403}"/>
              </a:ext>
            </a:extLst>
          </p:cNvPr>
          <p:cNvSpPr txBox="1">
            <a:spLocks/>
          </p:cNvSpPr>
          <p:nvPr/>
        </p:nvSpPr>
        <p:spPr>
          <a:xfrm>
            <a:off x="1437875" y="1643895"/>
            <a:ext cx="4057302" cy="193899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Kumar (2020)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0E28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Detected fire only after ignition. Could not predict risk in advance. No autonomous movement.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99398C-4208-4CC7-AFA3-3172633ECE11}"/>
              </a:ext>
            </a:extLst>
          </p:cNvPr>
          <p:cNvSpPr txBox="1"/>
          <p:nvPr/>
        </p:nvSpPr>
        <p:spPr>
          <a:xfrm>
            <a:off x="6696824" y="1601494"/>
            <a:ext cx="451473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Liu (2019)</a:t>
            </a:r>
          </a:p>
          <a:p>
            <a:pPr algn="just"/>
            <a:r>
              <a:rPr lang="en-US" sz="2000" dirty="0">
                <a:solidFill>
                  <a:srgbClr val="0E28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GPS tracking available but no severity classification or sustainable power for remote areas.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CEFA60-81E9-E8B9-6799-CEFF5DE210F0}"/>
              </a:ext>
            </a:extLst>
          </p:cNvPr>
          <p:cNvSpPr txBox="1"/>
          <p:nvPr/>
        </p:nvSpPr>
        <p:spPr>
          <a:xfrm>
            <a:off x="1437875" y="4128271"/>
            <a:ext cx="405730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Rao (2022)</a:t>
            </a:r>
          </a:p>
          <a:p>
            <a:pPr algn="just"/>
            <a:r>
              <a:rPr lang="en-US" sz="2000" dirty="0">
                <a:solidFill>
                  <a:srgbClr val="0E28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Focused only on gas sensor accuracy. No autonomous movement or real-time notifications.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9F67D6-DCE8-A926-79CA-2D3E0EC82D0D}"/>
              </a:ext>
            </a:extLst>
          </p:cNvPr>
          <p:cNvSpPr txBox="1"/>
          <p:nvPr/>
        </p:nvSpPr>
        <p:spPr>
          <a:xfrm>
            <a:off x="6696823" y="4128271"/>
            <a:ext cx="451473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Jain &amp; Sharma (2021)</a:t>
            </a:r>
          </a:p>
          <a:p>
            <a:pPr algn="just"/>
            <a:r>
              <a:rPr lang="en-US" sz="2000" dirty="0">
                <a:solidFill>
                  <a:srgbClr val="0E284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ML wildfire prediction using satellite data only — less granular and with delayed response.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454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4047C-F595-C4BD-A8D2-476E83B92831}"/>
              </a:ext>
            </a:extLst>
          </p:cNvPr>
          <p:cNvSpPr txBox="1">
            <a:spLocks/>
          </p:cNvSpPr>
          <p:nvPr/>
        </p:nvSpPr>
        <p:spPr>
          <a:xfrm>
            <a:off x="1150620" y="402361"/>
            <a:ext cx="10015220" cy="86323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Introduction to the Innovative Solution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AE065-DAD2-F98D-92C5-1B2E67D9014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40DAE8-8662-DE62-4A16-63110EC57132}"/>
              </a:ext>
            </a:extLst>
          </p:cNvPr>
          <p:cNvSpPr txBox="1"/>
          <p:nvPr/>
        </p:nvSpPr>
        <p:spPr>
          <a:xfrm>
            <a:off x="1397000" y="1503679"/>
            <a:ext cx="4699000" cy="4009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Outline</a:t>
            </a:r>
          </a:p>
          <a:p>
            <a:pPr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Solar-powered autonomous ESP32 robot</a:t>
            </a:r>
          </a:p>
          <a:p>
            <a:pPr algn="just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Flame, MQ-9 Gas, DHT11, Rain sensors</a:t>
            </a:r>
          </a:p>
          <a:p>
            <a:pPr algn="just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real-time fire location tracking</a:t>
            </a:r>
          </a:p>
          <a:p>
            <a:pPr algn="just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 + Mobile app alerts</a:t>
            </a:r>
          </a:p>
          <a:p>
            <a:pPr algn="just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cloud database</a:t>
            </a:r>
          </a:p>
          <a:p>
            <a:pPr algn="just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24/7 off-grid forest operation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743B09-E6EB-AF95-002D-12C4E2FFDF9F}"/>
              </a:ext>
            </a:extLst>
          </p:cNvPr>
          <p:cNvSpPr txBox="1"/>
          <p:nvPr/>
        </p:nvSpPr>
        <p:spPr>
          <a:xfrm>
            <a:off x="7219950" y="1265594"/>
            <a:ext cx="4508500" cy="407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Innovative Features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Ground-level forest floor patrol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risk before fire starts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5-sensor fusion for accuracy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severity classification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 - no power dependency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GPS-tagged cloud alerts</a:t>
            </a:r>
          </a:p>
        </p:txBody>
      </p:sp>
    </p:spTree>
    <p:extLst>
      <p:ext uri="{BB962C8B-B14F-4D97-AF65-F5344CB8AC3E}">
        <p14:creationId xmlns:p14="http://schemas.microsoft.com/office/powerpoint/2010/main" val="1018787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2FE808-D49E-92E6-39EA-81E8150743AD}"/>
              </a:ext>
            </a:extLst>
          </p:cNvPr>
          <p:cNvSpPr txBox="1"/>
          <p:nvPr/>
        </p:nvSpPr>
        <p:spPr>
          <a:xfrm>
            <a:off x="1656080" y="52145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Arial" pitchFamily="34" charset="0"/>
                <a:cs typeface="Arial" pitchFamily="34" charset="0"/>
              </a:rPr>
              <a:t>Innovative Solution</a:t>
            </a:r>
            <a:endParaRPr lang="en-US" sz="4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CD6126-D3A9-CCC6-4C7A-7D86F94F29A7}"/>
              </a:ext>
            </a:extLst>
          </p:cNvPr>
          <p:cNvSpPr txBox="1"/>
          <p:nvPr/>
        </p:nvSpPr>
        <p:spPr>
          <a:xfrm>
            <a:off x="1188720" y="1435854"/>
            <a:ext cx="2418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Demo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166C4E-B69D-4B55-85E9-69AC594132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34" r="20855"/>
          <a:stretch>
            <a:fillRect/>
          </a:stretch>
        </p:blipFill>
        <p:spPr>
          <a:xfrm>
            <a:off x="8958580" y="1897519"/>
            <a:ext cx="2519680" cy="46471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C07BC9-C7B9-851F-B198-823020F3D6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75" t="2521" r="23616"/>
          <a:stretch>
            <a:fillRect/>
          </a:stretch>
        </p:blipFill>
        <p:spPr>
          <a:xfrm>
            <a:off x="5334000" y="1897520"/>
            <a:ext cx="2519680" cy="46471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B8E770-8324-A66A-39BD-C45789FA03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40" y="2292866"/>
            <a:ext cx="3032760" cy="404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54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14DB2B12-34DA-134D-D950-47D9D9476E22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854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Cost of Solution Development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399D022-6F5E-62F7-E070-9F28152C9B8C}"/>
              </a:ext>
            </a:extLst>
          </p:cNvPr>
          <p:cNvSpPr txBox="1">
            <a:spLocks/>
          </p:cNvSpPr>
          <p:nvPr/>
        </p:nvSpPr>
        <p:spPr>
          <a:xfrm>
            <a:off x="838200" y="1580675"/>
            <a:ext cx="72898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Hardware Cost (LKR)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C51250-E558-EC51-B8A8-E77F4D918954}"/>
              </a:ext>
            </a:extLst>
          </p:cNvPr>
          <p:cNvSpPr txBox="1"/>
          <p:nvPr/>
        </p:nvSpPr>
        <p:spPr>
          <a:xfrm>
            <a:off x="6938010" y="1415407"/>
            <a:ext cx="514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Software Tools (Free / Open Source)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A63B71-B3C6-9A56-AA06-272F0A05F365}"/>
              </a:ext>
            </a:extLst>
          </p:cNvPr>
          <p:cNvSpPr txBox="1"/>
          <p:nvPr/>
        </p:nvSpPr>
        <p:spPr>
          <a:xfrm>
            <a:off x="7237730" y="1984568"/>
            <a:ext cx="457835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Arduino IDE, VS Code — Free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React.js, React Native — Free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Firebase (Free tier) — LKR 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Python (ML) — Open Source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GitHub — Free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4890BB-E92D-5D72-6149-01D90F6C7765}"/>
              </a:ext>
            </a:extLst>
          </p:cNvPr>
          <p:cNvSpPr txBox="1"/>
          <p:nvPr/>
        </p:nvSpPr>
        <p:spPr>
          <a:xfrm>
            <a:off x="6939280" y="387036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Development Effort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852F74-21C9-1303-6B61-192FA325C820}"/>
              </a:ext>
            </a:extLst>
          </p:cNvPr>
          <p:cNvSpPr txBox="1"/>
          <p:nvPr/>
        </p:nvSpPr>
        <p:spPr>
          <a:xfrm>
            <a:off x="7424420" y="4439523"/>
            <a:ext cx="41681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 developers × 3 months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Agile sprints (2-week cycles)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~480 person-hours total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Prototype cost: LKR 24,500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967F7A05-36D9-7738-69FE-333B78DCB7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560332"/>
              </p:ext>
            </p:extLst>
          </p:nvPr>
        </p:nvGraphicFramePr>
        <p:xfrm>
          <a:off x="1277620" y="2230852"/>
          <a:ext cx="4785360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51200">
                  <a:extLst>
                    <a:ext uri="{9D8B030D-6E8A-4147-A177-3AD203B41FA5}">
                      <a16:colId xmlns:a16="http://schemas.microsoft.com/office/drawing/2014/main" val="4231376187"/>
                    </a:ext>
                  </a:extLst>
                </a:gridCol>
                <a:gridCol w="1534160">
                  <a:extLst>
                    <a:ext uri="{9D8B030D-6E8A-4147-A177-3AD203B41FA5}">
                      <a16:colId xmlns:a16="http://schemas.microsoft.com/office/drawing/2014/main" val="2768468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Component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Cost (LKR)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781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ESP32 Microcontroller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3,500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306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MQ-9 Gas Sensor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1,500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288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Flame Sensor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600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001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DHT11 Temp/Humidity Sensor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500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7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Rain Sensor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700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689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GPS Module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3,000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022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Camera Module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2,500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093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Solar Panel + Battery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6,000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797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Robot Chassis + Motors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5,200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643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24,500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541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6248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1C3E7-AF80-B76F-1B35-922AA6439F9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Target Market and Business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128BD-22A0-E477-112A-6CB6D96057DC}"/>
              </a:ext>
            </a:extLst>
          </p:cNvPr>
          <p:cNvSpPr txBox="1">
            <a:spLocks/>
          </p:cNvSpPr>
          <p:nvPr/>
        </p:nvSpPr>
        <p:spPr>
          <a:xfrm>
            <a:off x="762000" y="1323341"/>
            <a:ext cx="6664960" cy="42164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Main Clients / Users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A6591F-7575-B2E6-0D49-9DE468C6A340}"/>
              </a:ext>
            </a:extLst>
          </p:cNvPr>
          <p:cNvSpPr txBox="1"/>
          <p:nvPr/>
        </p:nvSpPr>
        <p:spPr>
          <a:xfrm>
            <a:off x="365760" y="1887589"/>
            <a:ext cx="34442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Forest Departments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Government forest officers needing real-time fire risk data and autonomous patrol coverage.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369311-B609-3E7A-625B-1500A6AB455A}"/>
              </a:ext>
            </a:extLst>
          </p:cNvPr>
          <p:cNvSpPr txBox="1"/>
          <p:nvPr/>
        </p:nvSpPr>
        <p:spPr>
          <a:xfrm>
            <a:off x="4391660" y="1945742"/>
            <a:ext cx="34950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Environmental Authorities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National agencies managing protected areas, wildlife sanctuaries, and national parks.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7B991A-7FB0-7C75-FBB4-9CD9A4D2F44F}"/>
              </a:ext>
            </a:extLst>
          </p:cNvPr>
          <p:cNvSpPr txBox="1"/>
          <p:nvPr/>
        </p:nvSpPr>
        <p:spPr>
          <a:xfrm>
            <a:off x="8468360" y="1958073"/>
            <a:ext cx="35763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Disaster Management Units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Emergency response teams requiring GPS-tagged severity-classified fire alerts.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1C9601-82D2-7CB4-02B5-2C26589F3AB1}"/>
              </a:ext>
            </a:extLst>
          </p:cNvPr>
          <p:cNvSpPr txBox="1"/>
          <p:nvPr/>
        </p:nvSpPr>
        <p:spPr>
          <a:xfrm>
            <a:off x="96523" y="4546175"/>
            <a:ext cx="294639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Hardware Sales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Sell complete robotic units to government departments and environmental agencies as turnkey solutions.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8E0AB5-0FEC-7A3F-0B2C-2129952FC9BA}"/>
              </a:ext>
            </a:extLst>
          </p:cNvPr>
          <p:cNvSpPr txBox="1"/>
          <p:nvPr/>
        </p:nvSpPr>
        <p:spPr>
          <a:xfrm>
            <a:off x="762000" y="3825957"/>
            <a:ext cx="4206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Revenue Generation Methods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F1E664-5B58-DE9D-513A-07683ABD69BF}"/>
              </a:ext>
            </a:extLst>
          </p:cNvPr>
          <p:cNvSpPr txBox="1"/>
          <p:nvPr/>
        </p:nvSpPr>
        <p:spPr>
          <a:xfrm>
            <a:off x="3108958" y="4632110"/>
            <a:ext cx="32918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SaaS Subscription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Monthly / annual subscription fee for cloud dashboard, mobile app, and ML model updates.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9C1F79-9528-0B9F-4C38-A3CF56B6F88D}"/>
              </a:ext>
            </a:extLst>
          </p:cNvPr>
          <p:cNvSpPr txBox="1"/>
          <p:nvPr/>
        </p:nvSpPr>
        <p:spPr>
          <a:xfrm>
            <a:off x="6576057" y="4627455"/>
            <a:ext cx="26720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Maintenance Contracts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Annual service contracts for hardware maintenance, calibration, and system upgrades.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7CA4EB-7A0D-8B8C-2DFB-A914D6860C1D}"/>
              </a:ext>
            </a:extLst>
          </p:cNvPr>
          <p:cNvSpPr txBox="1"/>
          <p:nvPr/>
        </p:nvSpPr>
        <p:spPr>
          <a:xfrm>
            <a:off x="9509765" y="4627455"/>
            <a:ext cx="261619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Scale &amp; Export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Expand to international markets - wildfire-prone regions in Asia, Australia, and Europe.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1A224B8-5BE6-8869-097D-42430D345CC8}"/>
              </a:ext>
            </a:extLst>
          </p:cNvPr>
          <p:cNvCxnSpPr/>
          <p:nvPr/>
        </p:nvCxnSpPr>
        <p:spPr>
          <a:xfrm>
            <a:off x="3053080" y="4546175"/>
            <a:ext cx="0" cy="14773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552AD3B-156A-C98B-D337-D9FE70A530C8}"/>
              </a:ext>
            </a:extLst>
          </p:cNvPr>
          <p:cNvCxnSpPr/>
          <p:nvPr/>
        </p:nvCxnSpPr>
        <p:spPr>
          <a:xfrm>
            <a:off x="6492240" y="4627455"/>
            <a:ext cx="0" cy="14773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3B99673-AA08-79BF-27F8-170A096D6EE7}"/>
              </a:ext>
            </a:extLst>
          </p:cNvPr>
          <p:cNvCxnSpPr/>
          <p:nvPr/>
        </p:nvCxnSpPr>
        <p:spPr>
          <a:xfrm>
            <a:off x="9367520" y="4546175"/>
            <a:ext cx="0" cy="14773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2762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3523E-D7EF-519F-0CD4-8D3613ADBFA7}"/>
              </a:ext>
            </a:extLst>
          </p:cNvPr>
          <p:cNvSpPr txBox="1">
            <a:spLocks/>
          </p:cNvSpPr>
          <p:nvPr/>
        </p:nvSpPr>
        <p:spPr>
          <a:xfrm>
            <a:off x="838200" y="537845"/>
            <a:ext cx="10515600" cy="8540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Arial" pitchFamily="34" charset="0"/>
                <a:cs typeface="Arial" pitchFamily="34" charset="0"/>
              </a:rPr>
              <a:t>Group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77762-27CD-316C-2B5F-4C6769D23DC9}"/>
              </a:ext>
            </a:extLst>
          </p:cNvPr>
          <p:cNvSpPr txBox="1">
            <a:spLocks/>
          </p:cNvSpPr>
          <p:nvPr/>
        </p:nvSpPr>
        <p:spPr>
          <a:xfrm>
            <a:off x="2910840" y="1795145"/>
            <a:ext cx="758444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04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Members: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COHNDSE251F-027 P.D.D.S. Kulasekara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COHNDSE251F-029 H.H.A.M.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Sethumika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COHNDSE251F-030 C. H. Amarasinghe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COHNDSE251F-031 W. R. D. I.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Sandeepani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761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565</Words>
  <Application>Microsoft Office PowerPoint</Application>
  <PresentationFormat>Widescreen</PresentationFormat>
  <Paragraphs>107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Arial Narrow</vt:lpstr>
      <vt:lpstr>Times New Roman</vt:lpstr>
      <vt:lpstr>Office Theme</vt:lpstr>
      <vt:lpstr>Smart Forest Fire Detection System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SANDEEPANI W R D I</dc:creator>
  <cp:lastModifiedBy>SANDEEPANI W R D I</cp:lastModifiedBy>
  <cp:revision>6</cp:revision>
  <dcterms:created xsi:type="dcterms:W3CDTF">2026-03-26T06:29:32Z</dcterms:created>
  <dcterms:modified xsi:type="dcterms:W3CDTF">2026-03-26T17:23:59Z</dcterms:modified>
</cp:coreProperties>
</file>